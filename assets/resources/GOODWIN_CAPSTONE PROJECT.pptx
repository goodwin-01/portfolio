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47"/>
    <p:restoredTop sz="94631"/>
  </p:normalViewPr>
  <p:slideViewPr>
    <p:cSldViewPr snapToGrid="0">
      <p:cViewPr varScale="1">
        <p:scale>
          <a:sx n="95" d="100"/>
          <a:sy n="95" d="100"/>
        </p:scale>
        <p:origin x="200" y="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11/12/25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11/12/25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11/12/25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11/12/25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11/12/25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11/12/25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11/12/25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11/12/25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11/12/25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11/12/25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11/12/25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11/12/25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0BE3D13-5BE5-4B05-AFCF-2A2E059D2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AC85C80-0175-4214-A13D-03C224658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124" y="487443"/>
            <a:ext cx="5841548" cy="584154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5ADB788-8569-409E-862D-665AD53C9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" y="0"/>
            <a:ext cx="1218986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513060-1B88-4D69-002F-6EC0DD423B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39048" y="2568817"/>
            <a:ext cx="7155598" cy="3133968"/>
          </a:xfrm>
        </p:spPr>
        <p:txBody>
          <a:bodyPr>
            <a:normAutofit/>
          </a:bodyPr>
          <a:lstStyle/>
          <a:p>
            <a:pPr algn="l"/>
            <a:r>
              <a:rPr lang="en-US" sz="6600">
                <a:solidFill>
                  <a:srgbClr val="1F2D29"/>
                </a:solidFill>
              </a:rPr>
              <a:t>Tavon Goodwin</a:t>
            </a:r>
            <a:br>
              <a:rPr lang="en-US" sz="6600">
                <a:solidFill>
                  <a:srgbClr val="1F2D29"/>
                </a:solidFill>
              </a:rPr>
            </a:br>
            <a:r>
              <a:rPr lang="en-US" sz="6600">
                <a:solidFill>
                  <a:srgbClr val="1F2D29"/>
                </a:solidFill>
              </a:rPr>
              <a:t>November 2025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9DE5E-E44F-036E-35DA-9D2B5F82FE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39048" y="1325691"/>
            <a:ext cx="4355178" cy="1138426"/>
          </a:xfrm>
        </p:spPr>
        <p:txBody>
          <a:bodyPr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200">
                <a:solidFill>
                  <a:srgbClr val="1F2D29"/>
                </a:solidFill>
              </a:rPr>
              <a:t>Capstone Presentation – PL/SQL Automation Example</a:t>
            </a:r>
            <a:br>
              <a:rPr lang="en-US" sz="1200">
                <a:solidFill>
                  <a:srgbClr val="1F2D29"/>
                </a:solidFill>
              </a:rPr>
            </a:br>
            <a:r>
              <a:rPr lang="en-US" sz="1200">
                <a:solidFill>
                  <a:srgbClr val="1F2D29"/>
                </a:solidFill>
              </a:rPr>
              <a:t>Automating Database Operations in Oracle APEX</a:t>
            </a:r>
            <a:br>
              <a:rPr lang="en-US" sz="1200">
                <a:solidFill>
                  <a:srgbClr val="1F2D29"/>
                </a:solidFill>
              </a:rPr>
            </a:br>
            <a:r>
              <a:rPr lang="en-US" sz="1200">
                <a:solidFill>
                  <a:srgbClr val="1F2D29"/>
                </a:solidFill>
              </a:rPr>
              <a:t>Real Estate </a:t>
            </a:r>
            <a:br>
              <a:rPr lang="en-US" sz="1200">
                <a:solidFill>
                  <a:srgbClr val="1F2D29"/>
                </a:solidFill>
              </a:rPr>
            </a:br>
            <a:endParaRPr lang="en-US" sz="1200">
              <a:solidFill>
                <a:srgbClr val="1F2D29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562092-3AA7-4EF0-9007-C44F879A13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2663C086-1480-4E81-BD6F-3E43A4C38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585313" y="2747897"/>
            <a:ext cx="353147" cy="353147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1772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E537D-78D8-4314-2B67-37C6AE88B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5F2C4-A373-B6D6-E00B-7D2C6CF3D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9" y="1614791"/>
            <a:ext cx="7796540" cy="4435153"/>
          </a:xfrm>
        </p:spPr>
        <p:txBody>
          <a:bodyPr>
            <a:normAutofit/>
          </a:bodyPr>
          <a:lstStyle/>
          <a:p>
            <a:r>
              <a:rPr lang="en-US" dirty="0"/>
              <a:t>Demonstrates how SQL and PL/SQL can automate database operations.</a:t>
            </a:r>
          </a:p>
          <a:p>
            <a:r>
              <a:rPr lang="en-US" dirty="0"/>
              <a:t>Automates creation of tables, sequences, and triggers.</a:t>
            </a:r>
          </a:p>
          <a:p>
            <a:r>
              <a:rPr lang="en-US" dirty="0"/>
              <a:t>Focuses on:</a:t>
            </a:r>
          </a:p>
          <a:p>
            <a:pPr lvl="1"/>
            <a:r>
              <a:rPr lang="en-US" dirty="0"/>
              <a:t>Assigning unique IDs to agents automatically</a:t>
            </a:r>
          </a:p>
          <a:p>
            <a:pPr lvl="1"/>
            <a:r>
              <a:rPr lang="en-US" dirty="0"/>
              <a:t>Ensuring data integrity</a:t>
            </a:r>
          </a:p>
          <a:p>
            <a:pPr lvl="1"/>
            <a:r>
              <a:rPr lang="en-US" dirty="0"/>
              <a:t>Minimizing manual errors</a:t>
            </a:r>
          </a:p>
          <a:p>
            <a:r>
              <a:rPr lang="en-US" dirty="0"/>
              <a:t>This project shows the power of PL/SQL in automating repetitive database tasks, making data management more reliable. </a:t>
            </a:r>
          </a:p>
        </p:txBody>
      </p:sp>
    </p:spTree>
    <p:extLst>
      <p:ext uri="{BB962C8B-B14F-4D97-AF65-F5344CB8AC3E}">
        <p14:creationId xmlns:p14="http://schemas.microsoft.com/office/powerpoint/2010/main" val="432102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41E82-FE0C-CC26-3932-49F8BA581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EB638-DF34-8488-62CA-0C085AC8B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Exception Handling:</a:t>
            </a:r>
            <a:r>
              <a:rPr lang="en-US" dirty="0"/>
              <a:t> Safe reruns without conflicts.</a:t>
            </a:r>
          </a:p>
          <a:p>
            <a:r>
              <a:rPr lang="en-US" b="1" dirty="0"/>
              <a:t>Database Automation:</a:t>
            </a:r>
            <a:r>
              <a:rPr lang="en-US" dirty="0"/>
              <a:t> Unique IDs generated automatically using sequences.</a:t>
            </a:r>
          </a:p>
          <a:p>
            <a:r>
              <a:rPr lang="en-US" b="1" dirty="0"/>
              <a:t>Trigger Logic:</a:t>
            </a:r>
            <a:r>
              <a:rPr lang="en-US" dirty="0"/>
              <a:t> IDs auto-assigned upon inserting new records.</a:t>
            </a:r>
          </a:p>
          <a:p>
            <a:r>
              <a:rPr lang="en-US" b="1" dirty="0"/>
              <a:t>Data Reliability:</a:t>
            </a:r>
            <a:r>
              <a:rPr lang="en-US" dirty="0"/>
              <a:t> Prevents duplicate IDs and human errors.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471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D6F22-AB9F-12B5-2FD3-8D233989C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Script Component 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81737E88-B691-9128-01DD-E6681986D0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8815251"/>
              </p:ext>
            </p:extLst>
          </p:nvPr>
        </p:nvGraphicFramePr>
        <p:xfrm>
          <a:off x="2003898" y="2052637"/>
          <a:ext cx="9085634" cy="3569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2817">
                  <a:extLst>
                    <a:ext uri="{9D8B030D-6E8A-4147-A177-3AD203B41FA5}">
                      <a16:colId xmlns:a16="http://schemas.microsoft.com/office/drawing/2014/main" val="2627843394"/>
                    </a:ext>
                  </a:extLst>
                </a:gridCol>
                <a:gridCol w="4542817">
                  <a:extLst>
                    <a:ext uri="{9D8B030D-6E8A-4147-A177-3AD203B41FA5}">
                      <a16:colId xmlns:a16="http://schemas.microsoft.com/office/drawing/2014/main" val="2506561513"/>
                    </a:ext>
                  </a:extLst>
                </a:gridCol>
              </a:tblGrid>
              <a:tr h="663068">
                <a:tc>
                  <a:txBody>
                    <a:bodyPr/>
                    <a:lstStyle/>
                    <a:p>
                      <a:r>
                        <a:rPr lang="en-US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178925"/>
                  </a:ext>
                </a:extLst>
              </a:tr>
              <a:tr h="726720">
                <a:tc>
                  <a:txBody>
                    <a:bodyPr/>
                    <a:lstStyle/>
                    <a:p>
                      <a:r>
                        <a:rPr lang="en-US" dirty="0"/>
                        <a:t>Drop Objects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Safely remove previous objects to allow reruns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823739"/>
                  </a:ext>
                </a:extLst>
              </a:tr>
              <a:tr h="726720">
                <a:tc>
                  <a:txBody>
                    <a:bodyPr/>
                    <a:lstStyle/>
                    <a:p>
                      <a:r>
                        <a:rPr lang="en-US" dirty="0"/>
                        <a:t>Create 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Generates unique </a:t>
                      </a:r>
                      <a:r>
                        <a:rPr lang="en-US" dirty="0" err="1"/>
                        <a:t>AgentIDs</a:t>
                      </a:r>
                      <a:r>
                        <a:rPr lang="en-US" dirty="0"/>
                        <a:t> automatically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139414"/>
                  </a:ext>
                </a:extLst>
              </a:tr>
              <a:tr h="726720">
                <a:tc>
                  <a:txBody>
                    <a:bodyPr/>
                    <a:lstStyle/>
                    <a:p>
                      <a:r>
                        <a:rPr lang="en-US" dirty="0"/>
                        <a:t>Create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Defines structure for storing agent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777499"/>
                  </a:ext>
                </a:extLst>
              </a:tr>
              <a:tr h="726720">
                <a:tc>
                  <a:txBody>
                    <a:bodyPr/>
                    <a:lstStyle/>
                    <a:p>
                      <a:r>
                        <a:rPr lang="en-US" dirty="0"/>
                        <a:t>Trigger + Inserts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Automates ID assignment when new records are added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530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089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29DBD-CCDB-5C59-D8B6-EAAFD289E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Output 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D96D0BA-4419-F341-EC57-02B5A951E4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654887"/>
              </p:ext>
            </p:extLst>
          </p:nvPr>
        </p:nvGraphicFramePr>
        <p:xfrm>
          <a:off x="2773363" y="2052638"/>
          <a:ext cx="7796212" cy="24026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8106">
                  <a:extLst>
                    <a:ext uri="{9D8B030D-6E8A-4147-A177-3AD203B41FA5}">
                      <a16:colId xmlns:a16="http://schemas.microsoft.com/office/drawing/2014/main" val="1863038657"/>
                    </a:ext>
                  </a:extLst>
                </a:gridCol>
                <a:gridCol w="3898106">
                  <a:extLst>
                    <a:ext uri="{9D8B030D-6E8A-4147-A177-3AD203B41FA5}">
                      <a16:colId xmlns:a16="http://schemas.microsoft.com/office/drawing/2014/main" val="503890598"/>
                    </a:ext>
                  </a:extLst>
                </a:gridCol>
              </a:tblGrid>
              <a:tr h="800877">
                <a:tc>
                  <a:txBody>
                    <a:bodyPr/>
                    <a:lstStyle/>
                    <a:p>
                      <a:r>
                        <a:rPr lang="en-US" dirty="0" err="1"/>
                        <a:t>AgentID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AGENTNAME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8977242"/>
                  </a:ext>
                </a:extLst>
              </a:tr>
              <a:tr h="800877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5732049"/>
                  </a:ext>
                </a:extLst>
              </a:tr>
              <a:tr h="800877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076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C86087F-2786-A65D-3229-6324D678E074}"/>
              </a:ext>
            </a:extLst>
          </p:cNvPr>
          <p:cNvSpPr txBox="1"/>
          <p:nvPr/>
        </p:nvSpPr>
        <p:spPr>
          <a:xfrm>
            <a:off x="2957209" y="4805464"/>
            <a:ext cx="7612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Trigger automatically assigns </a:t>
            </a:r>
            <a:r>
              <a:rPr lang="en-US" dirty="0" err="1"/>
              <a:t>AgentIDs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No manual input needed for IDs</a:t>
            </a:r>
          </a:p>
        </p:txBody>
      </p:sp>
    </p:spTree>
    <p:extLst>
      <p:ext uri="{BB962C8B-B14F-4D97-AF65-F5344CB8AC3E}">
        <p14:creationId xmlns:p14="http://schemas.microsoft.com/office/powerpoint/2010/main" val="1980790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D367C-D264-BFA1-4534-AD5D9E932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7712" y="808056"/>
            <a:ext cx="8702428" cy="1077229"/>
          </a:xfrm>
        </p:spPr>
        <p:txBody>
          <a:bodyPr/>
          <a:lstStyle/>
          <a:p>
            <a:r>
              <a:rPr lang="en-US" dirty="0"/>
              <a:t>Live Example – SQL Demo(Oracle Apex)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B3270-9597-2538-D72C-79508E973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7748" y="1346670"/>
            <a:ext cx="7796540" cy="399782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INSERT INTO Agents (</a:t>
            </a:r>
            <a:r>
              <a:rPr lang="en-US" dirty="0" err="1"/>
              <a:t>AgentName</a:t>
            </a:r>
            <a:r>
              <a:rPr lang="en-US" dirty="0"/>
              <a:t>) VALUES ('Charlie');</a:t>
            </a:r>
          </a:p>
          <a:p>
            <a:pPr marL="0" indent="0">
              <a:buNone/>
            </a:pPr>
            <a:r>
              <a:rPr lang="en-US" dirty="0"/>
              <a:t>COMMIT;</a:t>
            </a:r>
          </a:p>
          <a:p>
            <a:pPr marL="0" indent="0">
              <a:buNone/>
            </a:pPr>
            <a:r>
              <a:rPr lang="en-US" dirty="0"/>
              <a:t>SELECT * FROM Agents;</a:t>
            </a:r>
          </a:p>
          <a:p>
            <a:pPr marL="0" indent="0">
              <a:buNone/>
            </a:pPr>
            <a:r>
              <a:rPr lang="en-US" dirty="0"/>
              <a:t>Expected output: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4BE1F13-8615-C146-3F43-18F8EE177E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911951"/>
              </p:ext>
            </p:extLst>
          </p:nvPr>
        </p:nvGraphicFramePr>
        <p:xfrm>
          <a:off x="2154926" y="4017404"/>
          <a:ext cx="8128000" cy="2672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5678">
                  <a:extLst>
                    <a:ext uri="{9D8B030D-6E8A-4147-A177-3AD203B41FA5}">
                      <a16:colId xmlns:a16="http://schemas.microsoft.com/office/drawing/2014/main" val="1407981023"/>
                    </a:ext>
                  </a:extLst>
                </a:gridCol>
                <a:gridCol w="4232322">
                  <a:extLst>
                    <a:ext uri="{9D8B030D-6E8A-4147-A177-3AD203B41FA5}">
                      <a16:colId xmlns:a16="http://schemas.microsoft.com/office/drawing/2014/main" val="3806607812"/>
                    </a:ext>
                  </a:extLst>
                </a:gridCol>
              </a:tblGrid>
              <a:tr h="668026">
                <a:tc>
                  <a:txBody>
                    <a:bodyPr/>
                    <a:lstStyle/>
                    <a:p>
                      <a:r>
                        <a:rPr lang="en-US" dirty="0" err="1"/>
                        <a:t>AgentID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AGENTNAME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69355"/>
                  </a:ext>
                </a:extLst>
              </a:tr>
              <a:tr h="66802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142330"/>
                  </a:ext>
                </a:extLst>
              </a:tr>
              <a:tr h="668026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184911"/>
                  </a:ext>
                </a:extLst>
              </a:tr>
              <a:tr h="668026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Charlie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6212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7548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7E204-5F0D-8E25-CAA8-5A7C9379D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7633F-BFE1-2B1F-A744-567CE0029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Automation reduces human error and increases efficiency.</a:t>
            </a:r>
          </a:p>
          <a:p>
            <a:r>
              <a:rPr lang="en-US" dirty="0"/>
              <a:t>Exception handling ensures safe execution of scripts.</a:t>
            </a:r>
          </a:p>
          <a:p>
            <a:r>
              <a:rPr lang="en-US" dirty="0"/>
              <a:t>Principles can scale to larger systems: HR, finance, or real estate databases.</a:t>
            </a:r>
          </a:p>
          <a:p>
            <a:r>
              <a:rPr lang="en-US" dirty="0"/>
              <a:t>Sequences and triggers are essential tools for reliable database design.</a:t>
            </a:r>
          </a:p>
        </p:txBody>
      </p:sp>
    </p:spTree>
    <p:extLst>
      <p:ext uri="{BB962C8B-B14F-4D97-AF65-F5344CB8AC3E}">
        <p14:creationId xmlns:p14="http://schemas.microsoft.com/office/powerpoint/2010/main" val="2576932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>
            <a:extLst>
              <a:ext uri="{FF2B5EF4-FFF2-40B4-BE49-F238E27FC236}">
                <a16:creationId xmlns:a16="http://schemas.microsoft.com/office/drawing/2014/main" id="{3DBBA26C-89C3-411F-9753-606A413F8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EEAD2215-6311-4D1C-B6B5-F57CB6BFC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7BA5DE79-30D1-4A10-8DB9-0A6E523A9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ABD0D63-D23F-4AE7-8270-4185EF9C1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2168E9E-94E9-4BE3-B88C-C8A468117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2107AC1-AA0D-4097-B03D-FD3C632AB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C8D231A-EC46-4736-B00F-76D307082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0BE3D13-5BE5-4B05-AFCF-2A2E059D2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1AC85C80-0175-4214-A13D-03C224658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124" y="487443"/>
            <a:ext cx="5841548" cy="584154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15ADB788-8569-409E-862D-665AD53C9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" y="0"/>
            <a:ext cx="1218986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AFC3A0-86D4-C491-ED35-967C94A23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9048" y="2568817"/>
            <a:ext cx="7155598" cy="31339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6600">
                <a:solidFill>
                  <a:srgbClr val="1F2D29"/>
                </a:solidFill>
              </a:rPr>
              <a:t>QUESTIONS?</a:t>
            </a:r>
            <a:br>
              <a:rPr lang="en-US" sz="6600">
                <a:solidFill>
                  <a:srgbClr val="1F2D29"/>
                </a:solidFill>
              </a:rPr>
            </a:br>
            <a:r>
              <a:rPr lang="en-US" sz="6600">
                <a:solidFill>
                  <a:srgbClr val="1F2D29"/>
                </a:solidFill>
              </a:rPr>
              <a:t>NEXT SLIDE FOR FULL OVERVIEW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500EA-1640-E4D7-6F65-CF4BE3E7B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9048" y="1325691"/>
            <a:ext cx="4355178" cy="1138426"/>
          </a:xfrm>
        </p:spPr>
        <p:txBody>
          <a:bodyPr vert="horz" lIns="91440" tIns="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1F2D29"/>
                </a:solidFill>
              </a:rPr>
              <a:t>THANK YOU 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6562092-3AA7-4EF0-9007-C44F879A13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2" name="Right Triangle 71">
            <a:extLst>
              <a:ext uri="{FF2B5EF4-FFF2-40B4-BE49-F238E27FC236}">
                <a16:creationId xmlns:a16="http://schemas.microsoft.com/office/drawing/2014/main" id="{2663C086-1480-4E81-BD6F-3E43A4C38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585313" y="2747897"/>
            <a:ext cx="353147" cy="353147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6236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BEB7091A-7E9C-45E8-B4B8-831F07A25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A7EE626-B530-46D6-8DFA-F7CCBAB93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E16B9833-CCDE-4DEF-8D9C-0374880A5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C2CC7F6-4DA9-40BE-9788-4ED6B0A85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D098DBD-F19D-467D-BA4D-814BD652E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EF6C70E-8448-40F4-8AFA-2E982338C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35CE25-186E-A109-B8B0-E65D8E665E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rcRect b="1346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3988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51</TotalTime>
  <Words>272</Words>
  <Application>Microsoft Macintosh PowerPoint</Application>
  <PresentationFormat>Widescreen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MS Shell Dlg 2</vt:lpstr>
      <vt:lpstr>Wingdings</vt:lpstr>
      <vt:lpstr>Wingdings 3</vt:lpstr>
      <vt:lpstr>Madison</vt:lpstr>
      <vt:lpstr>Tavon Goodwin November 2025</vt:lpstr>
      <vt:lpstr>Content</vt:lpstr>
      <vt:lpstr>Key Concepts</vt:lpstr>
      <vt:lpstr>Script Component </vt:lpstr>
      <vt:lpstr>Example of Output </vt:lpstr>
      <vt:lpstr>Live Example – SQL Demo(Oracle Apex)</vt:lpstr>
      <vt:lpstr>Reflection </vt:lpstr>
      <vt:lpstr>QUESTIONS? NEXT SLIDE FOR FULL OVERVIEW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Tavon Goodwin</dc:creator>
  <cp:lastModifiedBy>Tavon Goodwin</cp:lastModifiedBy>
  <cp:revision>1</cp:revision>
  <dcterms:created xsi:type="dcterms:W3CDTF">2025-11-12T17:46:52Z</dcterms:created>
  <dcterms:modified xsi:type="dcterms:W3CDTF">2025-11-12T18:38:44Z</dcterms:modified>
</cp:coreProperties>
</file>